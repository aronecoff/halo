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6400800" cy="6400800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14B8A6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social coordination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972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handles discovery, scheduling, and logistics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in-person social connections. Users approve or decline. That's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7863840" cy="594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42,500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8036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$345K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0360" y="3977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4632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3977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Score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1228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3977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 |  $12M Raise  |  Confidential  |  December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Aron Ecoff  |  Founder &amp; CEO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Loneliness Is a $154B Market Failure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Surgeon General Advisory, 2023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920240" cy="160020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" cy="160020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adults report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experiencing loneliness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0" y="1600200"/>
            <a:ext cx="1920240" cy="160020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600200"/>
            <a:ext cx="54864" cy="160020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7190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283464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mortality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social isolation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46320" y="1600200"/>
            <a:ext cx="1920240" cy="160020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0" y="160020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190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3776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$154B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493776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to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economy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949440" y="1600200"/>
            <a:ext cx="1920240" cy="160020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0" y="1600200"/>
            <a:ext cx="54864" cy="160020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71907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704088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18-25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frequent loneliness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40080" y="3429000"/>
            <a:ext cx="7863840" cy="109728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0080" y="3429000"/>
            <a:ext cx="54864" cy="10972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tools aren't working.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correlates with increased loneliness, not decreased. Dating app users report higher anxiety and lower self-esteem than non-users. Time spent on these platforms is going up while close friendships per person are at an all-time low.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MISALIGNMENT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Dating Apps Have a Revenue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business model punishes them for helping users succeed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600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matches never produce a single message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3911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039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 of matches result in an in-person meeting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78024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478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spend 77 min/day in-app without meeting anyone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16936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916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binary decisions per session creates decision fatigue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5584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355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days of messaging before a first date on average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9476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3794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Group revenue: $3.2B/year. Growth depends on users staying.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5669280" y="1600200"/>
            <a:ext cx="3017520" cy="28346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0"/>
          <p:cNvSpPr/>
          <p:nvPr/>
        </p:nvSpPr>
        <p:spPr>
          <a:xfrm>
            <a:off x="5669280" y="1600200"/>
            <a:ext cx="54864" cy="28346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Text 11"/>
          <p:cNvSpPr/>
          <p:nvPr/>
        </p:nvSpPr>
        <p:spPr>
          <a:xfrm>
            <a:off x="5852160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Incentive Problem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852160" y="2148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finds a relationship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5852160" y="2331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Company loses a customer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5852160" y="26243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stays single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852160" y="28072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Company retains revenue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852160" y="30998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 in app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852160" y="32826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ad impressions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5852160" y="357530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matching algorithm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5852160" y="37581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Faster user churn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product works, you lose the customer. That's a structural problem no feature update can fix.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Halo Flips the Business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money when users form real connections, not when they keep swiping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749040" cy="274320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" cy="2743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APPS TODAY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browses profiles manually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3288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messages, schedules dates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16936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889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measures time-in-app, swipes/session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00984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273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tied to keeping users engaged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68503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user stays on platform longer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4754880" y="1600200"/>
            <a:ext cx="3749040" cy="274320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600200"/>
            <a:ext cx="54864" cy="2743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3"/>
          <p:cNvSpPr/>
          <p:nvPr/>
        </p:nvSpPr>
        <p:spPr>
          <a:xfrm>
            <a:off x="493776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148840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66360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discovers compatible people automatically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532888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66360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handles scheduling, venue, logistics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916936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66360" y="2889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meetings arranged, satisfaction scores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300984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66360" y="3273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tied to successful connections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685032"/>
            <a:ext cx="164592" cy="16459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6636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user needs the app less over time</a:t>
            </a:r>
            <a:endParaRPr lang="en-US" sz="1050" dirty="0"/>
          </a:p>
        </p:txBody>
      </p:sp>
      <p:sp>
        <p:nvSpPr>
          <p:cNvPr id="3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User Actually Sees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 the work. The user makes one decision: yes or 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749040" cy="25603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2560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EXPERIENCE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app. Scroll through profiles.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 ~50 times.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3-4 matches. Send messages.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respond. Small talk for days.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063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schedule. One ghosts.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337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meet 1 person in 2 weeks.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minutes/day of effort.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554480"/>
            <a:ext cx="3749040" cy="25603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554480"/>
            <a:ext cx="54864" cy="2560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6642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EXPERIENCE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1965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once. Agent learns your patterns.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2240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scans compatible people nearby.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514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514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negotiates with their agents.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2788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agree on time and place.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063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66360" y="3063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notification: "Coffee with Sarah,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337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3337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4pm at Blue Bottle. Accept?"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tap yes. You show up. Done.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user effort: &lt;2 min/day. Meeting rate: 70% of proposals result in an actual meeting.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a persistent AI agent. Agents negotiate with each other on behalf of users.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60604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28803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Agent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user, always running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Learns from behavior, not just stated preferences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Tracks location, calendar, social capacity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724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Negotiates with other agents autonomously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724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Runs in background — no active user input needed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74720" y="1554480"/>
            <a:ext cx="260604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0" y="1554480"/>
            <a:ext cx="54864" cy="288036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6916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Graph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611880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context layer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61188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Venue database: type, capacity, hours, vibe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61188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Event feeds and local activity data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61188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Safety and walkability data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61188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Transit and weather awareness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260604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309360" y="1554480"/>
            <a:ext cx="54864" cy="28803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916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5800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 Engine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446520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and scheduling at scale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44652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Weighted compatibility scoring (0.0-1.0)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44652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Calendar overlap and travel time analysis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44652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Social capacity management per user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44652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Post-meeting feedback loop for model updates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ALGORITHM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Compatibility Scoring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factors, weighted by predictive value. Behavioral data outperforms stated preferences.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863840" cy="594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(0.30 × </a:t>
            </a:r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(0.30 × </a:t>
            </a:r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(0.20 × </a:t>
            </a:r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(0.20 × </a:t>
            </a:r>
            <a:pPr algn="ctr"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920240" cy="21488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86000"/>
            <a:ext cx="54864" cy="21488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23591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+ inferred preferences via Jaccard &amp; cosine similarity. Learned preferences weighted higher than self-reported (decay α=0.3).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0" y="2286000"/>
            <a:ext cx="1920240" cy="21488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0" y="2286000"/>
            <a:ext cx="54864" cy="2148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288036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3591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go, when they go, how long they stay, what they do after. Actual behavior is the strongest predictor of compatibility.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1920240" cy="21488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86000"/>
            <a:ext cx="54864" cy="2148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23591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connections, overlapping communities, event co-attendance. People who share social context are more likely to connect.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49440" y="2286000"/>
            <a:ext cx="1920240" cy="21488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2286000"/>
            <a:ext cx="54864" cy="21488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543800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23591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86600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availability, physical proximity right now, social capacity. Same two people can be 10% compatible Monday morning, 80% Saturday afternoon.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Six-Stage Matching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60 seconds per active user. End-to-end latency under 6 seconds.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28016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Geometry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288036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users within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(spontaneous) 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5km (planned) radius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1554480"/>
            <a:ext cx="128016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94560" y="1645920"/>
            <a:ext cx="457200" cy="4572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7452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Filter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2423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Map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7452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56232" y="288036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venue type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intent; filter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inappropriate settings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1554480"/>
            <a:ext cx="128016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11880" y="1645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Filter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423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 API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184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73552" y="288036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overlapping free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windows; account for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17720" y="1554480"/>
            <a:ext cx="128016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16459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0916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2423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Model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0916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90872" y="288036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compatibility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across all four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factors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35040" y="1554480"/>
            <a:ext cx="128016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2648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2423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Gate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2648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08192" y="288036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score against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current social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state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52360" y="1554480"/>
            <a:ext cx="128016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863840" y="1645920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4380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43800" y="2423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Agent-to-Agent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4380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25512" y="288036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agree on time,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context. Both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notified.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Wasn't Possible Until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technical prerequisites converged in 2023-2024. The window is 18-24 months.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can now negotiate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8288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negotiation requires GPT-4-level reasoning. Two years ago, the quality wasn't there. Now agents can evaluate tradeoffs, manage preferences, and reach agreements autonomously.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2176272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6771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221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trust autonomous tools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34440" y="245059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Wealthfront manages money. Clockwise manages calendars. Whoop manages health. Consumers have learned to delegate to software. Social logistics is the obvious next category.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40080" y="2798064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950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843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Dating app fatigue is real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234440" y="307238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Hinge users say they want to quit. Engagement-optimized design is creating backlash. Users are actively looking for something different. This creates an opening.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40080" y="3419856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11296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465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 want solutions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234440" y="3694176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Surgeon General declared loneliness a crisis. Universities, employers, and cities are budgeting for interventions. This creates B2B and grant-funded revenue channels.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40080" y="4041648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33088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4087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protocols are standardized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234440" y="43159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A2A protocol (2024) and semantic interop standards mean agents from different systems can communicate. We don't have to build the communication layer from scratch.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dating, expanding across five social connection domains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60604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2880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$46.5B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social connection markets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wellness + municipal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($12.3B) + Professional ($2.1B)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Friendship ($500M) + Roommate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($350M) + Co-founder ($200M)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Corporate/Municipal ($31B)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60604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554480"/>
            <a:ext cx="54864" cy="2880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$15.5B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11880" y="25146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social connection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we can directly address: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apps ($12.3B global)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($2.1B)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 ($500M)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Roommate ($350M)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($200M)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606040" cy="28803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554480"/>
            <a:ext cx="54864" cy="2880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$5.4B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46520" y="25146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market, our initial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($4.2B)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($850M)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 ($180M)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Roommate ($120M)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($80M)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Connection Domains, One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infrastructure, different use cases. Users shift domains instead of churning.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572768" cy="21031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54864" cy="2103120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point. 60% of initial users start here.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554480"/>
            <a:ext cx="1572768" cy="21031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03120" y="1554480"/>
            <a:ext cx="54864" cy="21031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6642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94560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Friendship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19456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Platonic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194560" y="2606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dating users also activate this domain.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840480" y="1554480"/>
            <a:ext cx="1572768" cy="21031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40480" y="1554480"/>
            <a:ext cx="54864" cy="21031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6420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31920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93192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931920" y="2606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introductions based on shared goals.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577840" y="1554480"/>
            <a:ext cx="1572768" cy="21031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577840" y="1554480"/>
            <a:ext cx="54864" cy="21031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66420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69280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Co-Founder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6928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669280" y="2606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at $79.99/mo.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315200" y="1554480"/>
            <a:ext cx="1572768" cy="21031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15200" y="1554480"/>
            <a:ext cx="54864" cy="21031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166420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06640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40664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7406640" y="26060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Cross-generational knowledge transfer.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40080" y="3840480"/>
            <a:ext cx="54864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0"/>
          <p:cNvSpPr/>
          <p:nvPr/>
        </p:nvSpPr>
        <p:spPr>
          <a:xfrm>
            <a:off x="91440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retention: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14400" y="4142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users retain 2.3x longer. Successful dating users invite friends for the Friendship domain at zero acquisition cost. Each relationship formed generates 3.2 referrals on average.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category, not just a better feature set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" cy="320040"/>
          </a:xfrm>
          <a:prstGeom prst="rect">
            <a:avLst/>
          </a:prstGeom>
          <a:solidFill>
            <a:srgbClr val="111F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74520" y="1508760"/>
            <a:ext cx="137160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1371600" cy="320040"/>
          </a:xfrm>
          <a:prstGeom prst="rect">
            <a:avLst/>
          </a:prstGeom>
          <a:solidFill>
            <a:srgbClr val="111F3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Hinge/Bumble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1371600" cy="320040"/>
          </a:xfrm>
          <a:prstGeom prst="rect">
            <a:avLst/>
          </a:prstGeom>
          <a:solidFill>
            <a:srgbClr val="111F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Lunchclub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1371600" cy="320040"/>
          </a:xfrm>
          <a:prstGeom prst="rect">
            <a:avLst/>
          </a:prstGeom>
          <a:solidFill>
            <a:srgbClr val="111F3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Meetup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43800" y="1508760"/>
            <a:ext cx="1371600" cy="320040"/>
          </a:xfrm>
          <a:prstGeom prst="rect">
            <a:avLst/>
          </a:prstGeom>
          <a:solidFill>
            <a:srgbClr val="111F38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847088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1847088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91840" y="1847088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swipe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847088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1847088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Self-browse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43800" y="1847088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Self-search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2194560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194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Effort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74520" y="2194560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32" name="Text 30"/>
          <p:cNvSpPr/>
          <p:nvPr/>
        </p:nvSpPr>
        <p:spPr>
          <a:xfrm>
            <a:off x="1874520" y="2194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Approve/decline only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91840" y="2194560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2194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min/day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194560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2194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26480" y="2194560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194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543800" y="2194560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40" name="Text 38"/>
          <p:cNvSpPr/>
          <p:nvPr/>
        </p:nvSpPr>
        <p:spPr>
          <a:xfrm>
            <a:off x="7543800" y="2194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2542032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74520" y="2542032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42"/>
          <p:cNvSpPr/>
          <p:nvPr/>
        </p:nvSpPr>
        <p:spPr>
          <a:xfrm>
            <a:off x="187452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91840" y="2542032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4"/>
          <p:cNvSpPr/>
          <p:nvPr/>
        </p:nvSpPr>
        <p:spPr>
          <a:xfrm>
            <a:off x="329184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Engagement-based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2542032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Text 46"/>
          <p:cNvSpPr/>
          <p:nvPr/>
        </p:nvSpPr>
        <p:spPr>
          <a:xfrm>
            <a:off x="470916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26480" y="2542032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fees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543800" y="2542032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2" name="Text 50"/>
          <p:cNvSpPr/>
          <p:nvPr/>
        </p:nvSpPr>
        <p:spPr>
          <a:xfrm>
            <a:off x="754380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" y="2889504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74520" y="2889504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56" name="Text 54"/>
          <p:cNvSpPr/>
          <p:nvPr/>
        </p:nvSpPr>
        <p:spPr>
          <a:xfrm>
            <a:off x="1874520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(dating to mentor)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91840" y="2889504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58" name="Text 56"/>
          <p:cNvSpPr/>
          <p:nvPr/>
        </p:nvSpPr>
        <p:spPr>
          <a:xfrm>
            <a:off x="3291840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(dating)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09160" y="2889504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(professional)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26480" y="2889504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62" name="Text 60"/>
          <p:cNvSpPr/>
          <p:nvPr/>
        </p:nvSpPr>
        <p:spPr>
          <a:xfrm>
            <a:off x="6126480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(events)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543800" y="2889504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64" name="Text 62"/>
          <p:cNvSpPr/>
          <p:nvPr/>
        </p:nvSpPr>
        <p:spPr>
          <a:xfrm>
            <a:off x="7543800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(professional)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57200" y="3236976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3236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Format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874520" y="3236976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8" name="Text 66"/>
          <p:cNvSpPr/>
          <p:nvPr/>
        </p:nvSpPr>
        <p:spPr>
          <a:xfrm>
            <a:off x="1874520" y="3236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In-person, always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291840" y="3236976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0" name="Text 68"/>
          <p:cNvSpPr/>
          <p:nvPr/>
        </p:nvSpPr>
        <p:spPr>
          <a:xfrm>
            <a:off x="3291840" y="3236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09160" y="3236976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2" name="Text 70"/>
          <p:cNvSpPr/>
          <p:nvPr/>
        </p:nvSpPr>
        <p:spPr>
          <a:xfrm>
            <a:off x="4709160" y="3236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only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126480" y="3236976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4" name="Text 72"/>
          <p:cNvSpPr/>
          <p:nvPr/>
        </p:nvSpPr>
        <p:spPr>
          <a:xfrm>
            <a:off x="6126480" y="3236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only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543800" y="3236976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6" name="Text 74"/>
          <p:cNvSpPr/>
          <p:nvPr/>
        </p:nvSpPr>
        <p:spPr>
          <a:xfrm>
            <a:off x="7543800" y="3236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57200" y="3584448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78" name="Text 76"/>
          <p:cNvSpPr/>
          <p:nvPr/>
        </p:nvSpPr>
        <p:spPr>
          <a:xfrm>
            <a:off x="457200" y="3584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874520" y="3584448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80" name="Text 78"/>
          <p:cNvSpPr/>
          <p:nvPr/>
        </p:nvSpPr>
        <p:spPr>
          <a:xfrm>
            <a:off x="1874520" y="3584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behavioral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291840" y="3584448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82" name="Text 80"/>
          <p:cNvSpPr/>
          <p:nvPr/>
        </p:nvSpPr>
        <p:spPr>
          <a:xfrm>
            <a:off x="3291840" y="3584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data only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09160" y="3584448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84" name="Text 82"/>
          <p:cNvSpPr/>
          <p:nvPr/>
        </p:nvSpPr>
        <p:spPr>
          <a:xfrm>
            <a:off x="4709160" y="3584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126480" y="3584448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86" name="Text 84"/>
          <p:cNvSpPr/>
          <p:nvPr/>
        </p:nvSpPr>
        <p:spPr>
          <a:xfrm>
            <a:off x="6126480" y="3584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543800" y="3584448"/>
            <a:ext cx="1371600" cy="32918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88" name="Text 86"/>
          <p:cNvSpPr/>
          <p:nvPr/>
        </p:nvSpPr>
        <p:spPr>
          <a:xfrm>
            <a:off x="7543800" y="3584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57200" y="3931920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0" name="Text 88"/>
          <p:cNvSpPr/>
          <p:nvPr/>
        </p:nvSpPr>
        <p:spPr>
          <a:xfrm>
            <a:off x="457200" y="3931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874520" y="3931920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2" name="Text 90"/>
          <p:cNvSpPr/>
          <p:nvPr/>
        </p:nvSpPr>
        <p:spPr>
          <a:xfrm>
            <a:off x="1874520" y="3931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opt-in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291840" y="3931920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4" name="Text 92"/>
          <p:cNvSpPr/>
          <p:nvPr/>
        </p:nvSpPr>
        <p:spPr>
          <a:xfrm>
            <a:off x="3291840" y="3931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exposed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709160" y="3931920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6" name="Text 94"/>
          <p:cNvSpPr/>
          <p:nvPr/>
        </p:nvSpPr>
        <p:spPr>
          <a:xfrm>
            <a:off x="4709160" y="3931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exposed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126480" y="3931920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8" name="Text 96"/>
          <p:cNvSpPr/>
          <p:nvPr/>
        </p:nvSpPr>
        <p:spPr>
          <a:xfrm>
            <a:off x="6126480" y="3931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543800" y="3931920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0" name="Text 98"/>
          <p:cNvSpPr/>
          <p:nvPr/>
        </p:nvSpPr>
        <p:spPr>
          <a:xfrm>
            <a:off x="7543800" y="3931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457200" y="4297680"/>
            <a:ext cx="54864" cy="3657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3" name="Text 101"/>
          <p:cNvSpPr/>
          <p:nvPr/>
        </p:nvSpPr>
        <p:spPr>
          <a:xfrm>
            <a:off x="685800" y="431596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Group ($3.2B revenue) can't build this without cannibalizing their core business. Their public investors expect engagement growth, not outcome optimization.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10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106" name="Text 103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Hard to Replicate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reinforcing advantages that get stronger over time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81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Data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017520" y="158191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 outcome data no one else has: which meetings worked, why, where, when. Stated preferences and actual preferences diverge. After 6 months we know users better than they know themselves. A competitor starting later can't buy this data.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40080" y="2121408"/>
            <a:ext cx="7863840" cy="5029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128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Effects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017520" y="214884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 means better matches. Dating users bring friends (cross-domain). More meetings means a smarter algorithm. Real relationships generate referrals that swipe apps can't produce.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40080" y="2688336"/>
            <a:ext cx="7863840" cy="5029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7977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715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Expansion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017520" y="271576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who finds a partner doesn't leave — they switch to Friendship or Professional. User lifetime spans their entire social life. Each domain acquired at near-zero marginal cost.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40080" y="3255264"/>
            <a:ext cx="7863840" cy="5029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4670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2826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Switching Costs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3017520" y="328269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agent understands your patterns after months of learning, starting over with a competitor means losing all that context. The effort asymmetry is significant.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40080" y="3822192"/>
            <a:ext cx="7863840" cy="5029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91363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849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Layer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017520" y="3849624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integrate for foot traffic. Calendars integrate for social scheduling. Employers integrate for team building. As integrations grow, Halo becomes infrastructure rather than just an app.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A targets met or exceeded as of December 2026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920240" cy="14630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146304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42,500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31520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633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40K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0" y="1554480"/>
            <a:ext cx="1920240" cy="14630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15544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66420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$345K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2834640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834640" y="2633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$300K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846320" y="1554480"/>
            <a:ext cx="1920240" cy="14630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46320" y="1554480"/>
            <a:ext cx="54864" cy="1463040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642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3776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4937760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Score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937760" y="2633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&gt;40%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949440" y="1554480"/>
            <a:ext cx="1920240" cy="14630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49440" y="1554480"/>
            <a:ext cx="54864" cy="146304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66420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4088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4.2x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7040880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040880" y="2633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&gt;3.0x</a:t>
            </a:r>
            <a:endParaRPr lang="en-US" sz="9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4612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06424" y="32461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users active in 2+ domains (target was &gt;30%)</a:t>
            </a:r>
            <a:endParaRPr lang="en-US" sz="10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59359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06424" y="3593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city launch in 6 weeks (target was &lt;8 weeks)</a:t>
            </a:r>
            <a:endParaRPr lang="en-US" sz="10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941064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106424" y="39410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proposed meetings actually happen</a:t>
            </a:r>
            <a:endParaRPr lang="en-US" sz="10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288536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106424" y="42885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enterprise pilot meetings rated positively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Validation: Austin 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matching engine, applied to employee networking at three tech companies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754880" cy="182880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Austin Pilot — Q3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tech firms, $10/employee/month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7744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meetings rated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3.4x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scores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77840" y="1554480"/>
            <a:ext cx="2926080" cy="182880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155448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Revenue Channels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2011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2011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$5-15/seat/mo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0" y="2267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Partnerships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2267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$200-500/mo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2523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Deployments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25237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$10K-50K/yr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7797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Integration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27797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$2-5/attendee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30358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Programs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Grant-funded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566160"/>
            <a:ext cx="7863840" cy="7772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566160"/>
            <a:ext cx="54864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867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infrastructure works for consumer dating, employee networking, university orientation, and conference matchmaking. The Austin pilot proves the engine is domain-agnostic. Enterprise contracts are annual, sticky, and acquired in bulk.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Neighborhood-First Launch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dense and small. Prove it works. Then expand.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572768" cy="23774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276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Marina, SF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matching in 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neighborhood. Seed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local connectors.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03120" y="1554480"/>
            <a:ext cx="1572768" cy="23774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94560" y="16276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181051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0299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SF Areas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users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60604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Castro, Mission,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Beach.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Cross-neighborhood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0" y="1554480"/>
            <a:ext cx="1572768" cy="23774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16276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0" y="181051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20299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of SF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users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260604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coverage.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 domain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77840" y="1554480"/>
            <a:ext cx="1572768" cy="23774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16276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181051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0" y="20299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Cities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60604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NYC, LA, Chicago,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Seattle,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Boston, Miami,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Denver, DC.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0" y="1554480"/>
            <a:ext cx="1572768" cy="23774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06640" y="16276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181051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06640" y="20299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23591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users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06640" y="260604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London, Toronto,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Sydney. Enterprise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4160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seeding 40%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88920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organic 30%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20%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0840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10%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and Unit Economics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consumer model + enterprise licensing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920240" cy="18745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" cy="1874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intros/week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mode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domain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1417320"/>
            <a:ext cx="1920240" cy="18745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417320"/>
            <a:ext cx="54864" cy="1874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1810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$14.99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88036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80360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intros/week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domains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capacity tracking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1920240" cy="18745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417320"/>
            <a:ext cx="54864" cy="1874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1810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$29.99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98348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intros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mode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matching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49440" y="1417320"/>
            <a:ext cx="1920240" cy="18745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417320"/>
            <a:ext cx="54864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1810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$79.99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8660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6600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domain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sessions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reports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474720"/>
            <a:ext cx="7863840" cy="96012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474720"/>
            <a:ext cx="54864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7947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39776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41605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30552" y="37947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30552" y="39776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30552" y="41605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38144" y="37947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38144" y="39776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3.4:1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38144" y="41605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11.2:1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45736" y="37947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45736" y="39776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8%/mo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45736" y="41605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4%/mo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53328" y="37947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53328" y="39776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53328" y="41605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60920" y="37947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60920" y="39776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60920" y="41605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37160" y="39776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37160" y="41605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Five-Year Financial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free-to-paid conversion, 2-3 new cities per quarter, 75-83% gross margin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0" cy="292608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74520" y="1508760"/>
            <a:ext cx="1371600" cy="292608"/>
          </a:xfrm>
          <a:prstGeom prst="rect">
            <a:avLst/>
          </a:prstGeom>
          <a:solidFill>
            <a:srgbClr val="111F38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1371600" cy="292608"/>
          </a:xfrm>
          <a:prstGeom prst="rect">
            <a:avLst/>
          </a:prstGeom>
          <a:solidFill>
            <a:srgbClr val="111F3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1371600" cy="292608"/>
          </a:xfrm>
          <a:prstGeom prst="rect">
            <a:avLst/>
          </a:prstGeom>
          <a:solidFill>
            <a:srgbClr val="111F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1371600" cy="292608"/>
          </a:xfrm>
          <a:prstGeom prst="rect">
            <a:avLst/>
          </a:prstGeom>
          <a:solidFill>
            <a:srgbClr val="111F3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43800" y="1508760"/>
            <a:ext cx="1371600" cy="2926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819656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8196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74520" y="1819656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18196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1819656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8196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819656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8196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819656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8196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43800" y="1819656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181965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121408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12140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Subscribers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74520" y="2121408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2" name="Text 30"/>
          <p:cNvSpPr/>
          <p:nvPr/>
        </p:nvSpPr>
        <p:spPr>
          <a:xfrm>
            <a:off x="1874520" y="212140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2121408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212140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121408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212140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121408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12140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43800" y="2121408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40" name="Text 38"/>
          <p:cNvSpPr/>
          <p:nvPr/>
        </p:nvSpPr>
        <p:spPr>
          <a:xfrm>
            <a:off x="7543800" y="212140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2423160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242316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ARR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874520" y="2423160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42"/>
          <p:cNvSpPr/>
          <p:nvPr/>
        </p:nvSpPr>
        <p:spPr>
          <a:xfrm>
            <a:off x="1874520" y="242316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$0.26M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1840" y="2423160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4"/>
          <p:cNvSpPr/>
          <p:nvPr/>
        </p:nvSpPr>
        <p:spPr>
          <a:xfrm>
            <a:off x="3291840" y="242316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2423160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Text 46"/>
          <p:cNvSpPr/>
          <p:nvPr/>
        </p:nvSpPr>
        <p:spPr>
          <a:xfrm>
            <a:off x="4709160" y="242316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$11.0M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2423160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242316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$39.0M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543800" y="2423160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2" name="Text 50"/>
          <p:cNvSpPr/>
          <p:nvPr/>
        </p:nvSpPr>
        <p:spPr>
          <a:xfrm>
            <a:off x="7543800" y="242316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$113.0M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2724912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272491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Revenue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874520" y="2724912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56" name="Text 54"/>
          <p:cNvSpPr/>
          <p:nvPr/>
        </p:nvSpPr>
        <p:spPr>
          <a:xfrm>
            <a:off x="1874520" y="272491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91840" y="2724912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58" name="Text 56"/>
          <p:cNvSpPr/>
          <p:nvPr/>
        </p:nvSpPr>
        <p:spPr>
          <a:xfrm>
            <a:off x="3291840" y="272491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09160" y="2724912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272491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26480" y="2724912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62" name="Text 60"/>
          <p:cNvSpPr/>
          <p:nvPr/>
        </p:nvSpPr>
        <p:spPr>
          <a:xfrm>
            <a:off x="6126480" y="272491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543800" y="2724912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64" name="Text 62"/>
          <p:cNvSpPr/>
          <p:nvPr/>
        </p:nvSpPr>
        <p:spPr>
          <a:xfrm>
            <a:off x="7543800" y="272491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$18.0M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3026664"/>
            <a:ext cx="1371600" cy="28346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302666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874520" y="3026664"/>
            <a:ext cx="1371600" cy="28346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68" name="Text 66"/>
          <p:cNvSpPr/>
          <p:nvPr/>
        </p:nvSpPr>
        <p:spPr>
          <a:xfrm>
            <a:off x="1874520" y="302666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$0.26M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91840" y="3026664"/>
            <a:ext cx="1371600" cy="28346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70" name="Text 68"/>
          <p:cNvSpPr/>
          <p:nvPr/>
        </p:nvSpPr>
        <p:spPr>
          <a:xfrm>
            <a:off x="3291840" y="302666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$2.1M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709160" y="3026664"/>
            <a:ext cx="1371600" cy="28346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72" name="Text 70"/>
          <p:cNvSpPr/>
          <p:nvPr/>
        </p:nvSpPr>
        <p:spPr>
          <a:xfrm>
            <a:off x="4709160" y="302666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$12.5M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26480" y="3026664"/>
            <a:ext cx="1371600" cy="28346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74" name="Text 72"/>
          <p:cNvSpPr/>
          <p:nvPr/>
        </p:nvSpPr>
        <p:spPr>
          <a:xfrm>
            <a:off x="6126480" y="302666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$45.0M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543800" y="3026664"/>
            <a:ext cx="1371600" cy="283464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76" name="Text 74"/>
          <p:cNvSpPr/>
          <p:nvPr/>
        </p:nvSpPr>
        <p:spPr>
          <a:xfrm>
            <a:off x="7543800" y="3026664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$131.0M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3328416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78" name="Text 76"/>
          <p:cNvSpPr/>
          <p:nvPr/>
        </p:nvSpPr>
        <p:spPr>
          <a:xfrm>
            <a:off x="457200" y="332841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874520" y="3328416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80" name="Text 78"/>
          <p:cNvSpPr/>
          <p:nvPr/>
        </p:nvSpPr>
        <p:spPr>
          <a:xfrm>
            <a:off x="1874520" y="332841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291840" y="3328416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82" name="Text 80"/>
          <p:cNvSpPr/>
          <p:nvPr/>
        </p:nvSpPr>
        <p:spPr>
          <a:xfrm>
            <a:off x="3291840" y="332841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709160" y="3328416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84" name="Text 82"/>
          <p:cNvSpPr/>
          <p:nvPr/>
        </p:nvSpPr>
        <p:spPr>
          <a:xfrm>
            <a:off x="4709160" y="332841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126480" y="3328416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86" name="Text 84"/>
          <p:cNvSpPr/>
          <p:nvPr/>
        </p:nvSpPr>
        <p:spPr>
          <a:xfrm>
            <a:off x="6126480" y="332841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543800" y="3328416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88" name="Text 86"/>
          <p:cNvSpPr/>
          <p:nvPr/>
        </p:nvSpPr>
        <p:spPr>
          <a:xfrm>
            <a:off x="7543800" y="3328416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57200" y="3630168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0" name="Text 88"/>
          <p:cNvSpPr/>
          <p:nvPr/>
        </p:nvSpPr>
        <p:spPr>
          <a:xfrm>
            <a:off x="457200" y="36301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Active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874520" y="3630168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2" name="Text 90"/>
          <p:cNvSpPr/>
          <p:nvPr/>
        </p:nvSpPr>
        <p:spPr>
          <a:xfrm>
            <a:off x="1874520" y="36301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291840" y="3630168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4" name="Text 92"/>
          <p:cNvSpPr/>
          <p:nvPr/>
        </p:nvSpPr>
        <p:spPr>
          <a:xfrm>
            <a:off x="3291840" y="36301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709160" y="3630168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6" name="Text 94"/>
          <p:cNvSpPr/>
          <p:nvPr/>
        </p:nvSpPr>
        <p:spPr>
          <a:xfrm>
            <a:off x="4709160" y="36301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126480" y="3630168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8" name="Text 96"/>
          <p:cNvSpPr/>
          <p:nvPr/>
        </p:nvSpPr>
        <p:spPr>
          <a:xfrm>
            <a:off x="6126480" y="36301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543800" y="3630168"/>
            <a:ext cx="1371600" cy="2834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0" name="Text 98"/>
          <p:cNvSpPr/>
          <p:nvPr/>
        </p:nvSpPr>
        <p:spPr>
          <a:xfrm>
            <a:off x="7543800" y="363016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57200" y="3931920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102" name="Text 100"/>
          <p:cNvSpPr/>
          <p:nvPr/>
        </p:nvSpPr>
        <p:spPr>
          <a:xfrm>
            <a:off x="457200" y="393192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874520" y="3931920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104" name="Text 102"/>
          <p:cNvSpPr/>
          <p:nvPr/>
        </p:nvSpPr>
        <p:spPr>
          <a:xfrm>
            <a:off x="1874520" y="393192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291840" y="3931920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106" name="Text 104"/>
          <p:cNvSpPr/>
          <p:nvPr/>
        </p:nvSpPr>
        <p:spPr>
          <a:xfrm>
            <a:off x="3291840" y="393192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4709160" y="3931920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108" name="Text 106"/>
          <p:cNvSpPr/>
          <p:nvPr/>
        </p:nvSpPr>
        <p:spPr>
          <a:xfrm>
            <a:off x="4709160" y="393192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6126480" y="3931920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110" name="Text 108"/>
          <p:cNvSpPr/>
          <p:nvPr/>
        </p:nvSpPr>
        <p:spPr>
          <a:xfrm>
            <a:off x="6126480" y="393192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7543800" y="3931920"/>
            <a:ext cx="1371600" cy="283464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112" name="Text 110"/>
          <p:cNvSpPr/>
          <p:nvPr/>
        </p:nvSpPr>
        <p:spPr>
          <a:xfrm>
            <a:off x="7543800" y="3931920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640080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positive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640080" y="4443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2697480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positive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2697480" y="4443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14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4754880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positive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4754880" y="4443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30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6812280" y="4279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positive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6812280" y="4443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36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1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124" name="Text 121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BARRIERS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Match Group Can't Build This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structural reasons, not just execution speed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5453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Cannibalization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7556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make $3.2B/year from engagement. An outcome-based model directly undermines that. Their board and public investors would not approve a pivot that shrinks revenue in the short term.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112264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Lock-In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3591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 and Bumble are built around the swipe-card interface. Their entire UX, brand identity, and user expectation is tied to this pattern. Shifting to autonomous agents would alienate their existing base.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715768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7523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Trust Problem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9626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associate Tinder with casual hookups. They won't grant it calendar access or let it schedule their social life. This kind of trust has to be earned from scratch with a new brand.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3319272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355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 Misfit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5661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teams are optimized for engagement metrics: DAU, session length, swipes per minute. Reorienting an entire organization around outcome metrics takes years, not months.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922776"/>
            <a:ext cx="7863840" cy="530352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959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Cold Start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1696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they start building today, we have years of behavioral outcome data they can't replicate. What actually works in a real meeting can't be reverse-engineered from swipe data.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$12M Series A at $60M Pre-Money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runway. Clear milestones to Series 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840480" cy="19202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1920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73736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R&amp;D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— $6.0M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infrastructure, ML team, trust &amp; safety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2450592"/>
            <a:ext cx="1042416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42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Expansion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— $3.6M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724912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new cities, community seeding, content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889504"/>
            <a:ext cx="69494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809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Partnerships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9809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— $2.4M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16382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partnerships, member success team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3840480" cy="19202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554480"/>
            <a:ext cx="54864" cy="1920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18-Month Milestones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1-3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2356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launch — 500 users, 100 meetings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286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4-6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23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SF-wide — 3K users, 500 paid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7-9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launch — 8K users, $50K MRR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2834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10-12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235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launch — 15K users, $120K MRR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13-18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2356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more cities + enterprise — 40K users, $300K MRR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365760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3730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potential: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39776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$131M ARR trajectory by Year 5. At 15x forward revenue: $2B+ valuation. Likely paths: IPO at scale, or acquisition interest from Match Group, Meta, or Google — all of whom would pay to prevent a competitor from owning this position.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Aron Ecoff — Founder &amp; CEO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I'm building this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kept seeing the same problem around me: people who wanted to meet other people but couldn't make it happen. Not because they weren't trying — they were on the apps, going to events, making effort. The problem was coordination.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logistics of figuring out who to meet, where, and when are hard. And the existing tools make it worse by optimizing for engagement over outcomes. I started building Halo because the coordination layer is what's actually broken — and now we have the AI infrastructure to fix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7863840" cy="1280160"/>
          </a:xfrm>
          <a:prstGeom prst="rect">
            <a:avLst/>
          </a:prstGeom>
          <a:solidFill>
            <a:srgbClr val="111F38"/>
          </a:solidFill>
          <a:ln/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017520"/>
            <a:ext cx="54864" cy="1280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Hires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Co-Founder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602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distributed systems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8892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Engineer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602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agent systems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602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social experience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2084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(PhD)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3602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4-6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RL, matching algorithms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D1A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028"/>
            <a:ext cx="9144000" cy="1371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 |  Series A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743200"/>
            <a:ext cx="8229600" cy="8229600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14B8A6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HALO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72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handle the logistics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meeting people in real life.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42,500 users. $345K MRR. 62% PMF score. 4.2x LTV:CAC.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$12M to scale from San Francisco to 10 cities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prove this model works everywhere.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50D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617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Aron Ecoff  |  ecoff@chapman.edu  |  $12M Series A at $60M Pre-Money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Halo — Series A</dc:title>
  <dc:subject>PptxGenJS Presentation</dc:subject>
  <dc:creator>Aron Ecoff</dc:creator>
  <cp:lastModifiedBy>Aron Ecoff</cp:lastModifiedBy>
  <cp:revision>1</cp:revision>
  <dcterms:created xsi:type="dcterms:W3CDTF">2026-02-24T05:00:26Z</dcterms:created>
  <dcterms:modified xsi:type="dcterms:W3CDTF">2026-02-24T05:00:26Z</dcterms:modified>
</cp:coreProperties>
</file>